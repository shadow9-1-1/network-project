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0352" y="1122363"/>
            <a:ext cx="10072922" cy="197834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0352" y="3509963"/>
            <a:ext cx="10072922" cy="1747837"/>
          </a:xfrm>
        </p:spPr>
        <p:txBody>
          <a:bodyPr>
            <a:normAutofit/>
          </a:bodyPr>
          <a:lstStyle>
            <a:lvl1pPr marL="0" indent="0" algn="l">
              <a:buNone/>
              <a:defRPr sz="2000" i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524C6359-9BB8-4148-8114-537E698DA205}" type="datetime1">
              <a:rPr lang="en-US" smtClean="0"/>
              <a:t>24-Dec-24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99440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0352" y="136525"/>
            <a:ext cx="2743200" cy="365125"/>
          </a:xfrm>
        </p:spPr>
        <p:txBody>
          <a:bodyPr/>
          <a:lstStyle/>
          <a:p>
            <a:fld id="{9376191F-481E-48E9-BB9A-369A67A7362D}" type="datetime1">
              <a:rPr lang="en-US" smtClean="0"/>
              <a:t>24-Dec-24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059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4060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10072922" cy="2313641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3509963"/>
            <a:ext cx="10072922" cy="25796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677DE-DD04-48CC-9C18-7BE9FF2DEB6B}" type="datetime1">
              <a:rPr lang="en-US" smtClean="0"/>
              <a:t>24-Dec-24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37B4CDD2-E09A-418A-9131-FBDEE440A1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26769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8852E5FB-B268-4CCA-8E55-803038F7A00D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A1C9CBB3-97C0-4A35-9088-C69233F5CEE7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1610871-AEE9-46EB-9D27-BA1D9D688124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27478059-2A11-484D-A2D7-199F74778E50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0EC0886-DDB9-47F1-9414-C121C1D3F954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66A10427-DF20-4284-B215-EABA4D366E20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55559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717" y="2521885"/>
            <a:ext cx="4645152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92136" y="2521885"/>
            <a:ext cx="4611138" cy="3655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255ED-7101-4D18-A8AE-3B5E4CB87EA5}" type="datetime1">
              <a:rPr lang="en-US" smtClean="0"/>
              <a:t>24-Dec-24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0CB61A83-9419-49FC-8074-2AB3D34FA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19637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BCD12E57-97FB-48D8-81CC-7C37E8947CB4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E487641C-E83B-4134-88C9-1D23D5FA1836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B99AB7A6-A88C-44E1-A9DE-4126B957F88A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FF0D518-1D17-44C7-BF73-7C980481DB5B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9A7A3E12-61E8-41A0-A459-15BF375FA945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9E5E4A56-9100-4D60-8A34-0FE116F41FF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1777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7"/>
            <a:ext cx="100729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521884"/>
            <a:ext cx="4845387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0352" y="3366390"/>
            <a:ext cx="4845387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34025" y="2521884"/>
            <a:ext cx="4869249" cy="780439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34025" y="3366390"/>
            <a:ext cx="4869249" cy="264479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2F23D-51F6-4C94-8CD5-B9ABBF67EE23}" type="datetime1">
              <a:rPr lang="en-US" smtClean="0"/>
              <a:t>24-Dec-24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5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87068"/>
            <a:ext cx="10077556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1A702F-6367-4FD1-89A8-3744BE6BA9A2}" type="datetime1">
              <a:rPr lang="en-US" smtClean="0"/>
              <a:t>24-Dec-24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aphic 78">
            <a:extLst>
              <a:ext uri="{FF2B5EF4-FFF2-40B4-BE49-F238E27FC236}">
                <a16:creationId xmlns:a16="http://schemas.microsoft.com/office/drawing/2014/main" id="{AC45ECC6-E29C-40EF-A7C9-5A17DAFD4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52330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7" name="Graphic 78">
              <a:extLst>
                <a:ext uri="{FF2B5EF4-FFF2-40B4-BE49-F238E27FC236}">
                  <a16:creationId xmlns:a16="http://schemas.microsoft.com/office/drawing/2014/main" id="{8DA0D497-8E8F-426A-8172-894BE03F70F6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aphic 78">
              <a:extLst>
                <a:ext uri="{FF2B5EF4-FFF2-40B4-BE49-F238E27FC236}">
                  <a16:creationId xmlns:a16="http://schemas.microsoft.com/office/drawing/2014/main" id="{8C0459EF-3B70-4083-8845-3A9AF847E805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9" name="Graphic 78">
                <a:extLst>
                  <a:ext uri="{FF2B5EF4-FFF2-40B4-BE49-F238E27FC236}">
                    <a16:creationId xmlns:a16="http://schemas.microsoft.com/office/drawing/2014/main" id="{53BF2B58-70F8-4288-85AB-CBDA723CDFCC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569E551-A5A0-4A8F-B999-3A6D104814A2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0FB69EB5-D9AC-46E7-934E-32999C39B2E6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6EABC49A-B4ED-44E4-ADB7-E432734A7C9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9165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E99BD-4B4F-4460-B452-0E8146ACCF8F}" type="datetime1">
              <a:rPr lang="en-US" smtClean="0"/>
              <a:t>24-Dec-24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7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4315386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420086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4315386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6FD34C-1867-42A9-AC54-D15ADD8A65E7}" type="datetime1">
              <a:rPr lang="en-US" smtClean="0"/>
              <a:t>24-Dec-24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839DB371-B90D-44CB-A4AF-C7BDBFD0A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0C845011-2FC2-40F7-B0C6-49CBBA72B9C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2BC78B8-5139-436F-AD47-3CC03903FDD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F9DC17BA-1278-45C9-B1BF-B9F1518E1F29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99637B9F-CC26-4669-81F0-A942B4F72D61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2BB8F115-0030-47B4-BAF4-C15D1EA27B11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662F9949-4F1A-4708-824B-E876E9BEDA16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87057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787068"/>
            <a:ext cx="3932237" cy="2223152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4200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0352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133E9-A654-4C17-8C3C-DDCAC83D6EBF}" type="datetime1">
              <a:rPr lang="en-US" smtClean="0"/>
              <a:t>24-Dec-24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aphic 78">
            <a:extLst>
              <a:ext uri="{FF2B5EF4-FFF2-40B4-BE49-F238E27FC236}">
                <a16:creationId xmlns:a16="http://schemas.microsoft.com/office/drawing/2014/main" id="{7627CBC2-9DC2-4EE8-A2D5-849E30F22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319346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9" name="Graphic 78">
              <a:extLst>
                <a:ext uri="{FF2B5EF4-FFF2-40B4-BE49-F238E27FC236}">
                  <a16:creationId xmlns:a16="http://schemas.microsoft.com/office/drawing/2014/main" id="{9FB4AEFC-63AB-4831-8EC1-E8145604D8D9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aphic 78">
              <a:extLst>
                <a:ext uri="{FF2B5EF4-FFF2-40B4-BE49-F238E27FC236}">
                  <a16:creationId xmlns:a16="http://schemas.microsoft.com/office/drawing/2014/main" id="{811E1337-D5DA-408D-91F3-A6A35FCDD0B9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1E473FA4-FD80-4D04-AAC5-63B9A4D80778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FCB457B9-48DE-4921-8C3F-996598075B1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53C9DB95-9A61-4553-8D82-D2BE26FCBC6E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Graphic 78">
                <a:extLst>
                  <a:ext uri="{FF2B5EF4-FFF2-40B4-BE49-F238E27FC236}">
                    <a16:creationId xmlns:a16="http://schemas.microsoft.com/office/drawing/2014/main" id="{0EAE371F-24C9-4738-834F-FAF5A5C9ACE1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9766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649BD0-10DB-43E7-8F22-40B3D51B8FC3}" type="datetime1">
              <a:rPr lang="en-US" smtClean="0"/>
              <a:t>24-Dec-24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12EF7969-DB38-4989-A65C-9D190A245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30225" y="2333456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2145BE25-C437-45FE-A3D3-BBAAF108CC9B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4A9D0FA0-682C-4076-B779-D865AEEFC66C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AB60163C-1A2D-4F00-BC61-8A3C11E2D2BE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3FF8D873-9CF9-4A0A-A7B8-875C0B8233D6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2B645470-F624-4417-A8A4-FC242E43C9DB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ECC7EFEF-6B2A-4210-9275-0077ACF2827B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2224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74374" y="787067"/>
            <a:ext cx="2628900" cy="53898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5719" y="787067"/>
            <a:ext cx="7039402" cy="538989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C79C-F566-427A-93F6-434A4E613134}" type="datetime1">
              <a:rPr lang="en-US" smtClean="0"/>
              <a:t>24-Dec-24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aphic 78">
            <a:extLst>
              <a:ext uri="{FF2B5EF4-FFF2-40B4-BE49-F238E27FC236}">
                <a16:creationId xmlns:a16="http://schemas.microsoft.com/office/drawing/2014/main" id="{588F505F-2957-41FC-9AAA-962853A67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5400000">
            <a:off x="7283627" y="1250328"/>
            <a:ext cx="972241" cy="45719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8" name="Graphic 78">
              <a:extLst>
                <a:ext uri="{FF2B5EF4-FFF2-40B4-BE49-F238E27FC236}">
                  <a16:creationId xmlns:a16="http://schemas.microsoft.com/office/drawing/2014/main" id="{091A36EB-8545-4EFE-B619-165D36D644D1}"/>
                </a:ext>
              </a:extLst>
            </p:cNvPr>
            <p:cNvSpPr/>
            <p:nvPr/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" name="Graphic 78">
              <a:extLst>
                <a:ext uri="{FF2B5EF4-FFF2-40B4-BE49-F238E27FC236}">
                  <a16:creationId xmlns:a16="http://schemas.microsoft.com/office/drawing/2014/main" id="{8D075D29-6706-486B-A55A-13866882BA88}"/>
                </a:ext>
              </a:extLst>
            </p:cNvPr>
            <p:cNvGrpSpPr/>
            <p:nvPr/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0" name="Graphic 78">
                <a:extLst>
                  <a:ext uri="{FF2B5EF4-FFF2-40B4-BE49-F238E27FC236}">
                    <a16:creationId xmlns:a16="http://schemas.microsoft.com/office/drawing/2014/main" id="{3FAE751A-10F0-48F2-BBC3-D2FE499B345B}"/>
                  </a:ext>
                </a:extLst>
              </p:cNvPr>
              <p:cNvSpPr/>
              <p:nvPr/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Graphic 78">
                <a:extLst>
                  <a:ext uri="{FF2B5EF4-FFF2-40B4-BE49-F238E27FC236}">
                    <a16:creationId xmlns:a16="http://schemas.microsoft.com/office/drawing/2014/main" id="{52289CAF-683C-4BCC-8AA5-95A3BF799B0F}"/>
                  </a:ext>
                </a:extLst>
              </p:cNvPr>
              <p:cNvSpPr/>
              <p:nvPr/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Graphic 78">
                <a:extLst>
                  <a:ext uri="{FF2B5EF4-FFF2-40B4-BE49-F238E27FC236}">
                    <a16:creationId xmlns:a16="http://schemas.microsoft.com/office/drawing/2014/main" id="{3BC8403A-C46F-4DA1-A015-00A80215F289}"/>
                  </a:ext>
                </a:extLst>
              </p:cNvPr>
              <p:cNvSpPr/>
              <p:nvPr/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Graphic 78">
                <a:extLst>
                  <a:ext uri="{FF2B5EF4-FFF2-40B4-BE49-F238E27FC236}">
                    <a16:creationId xmlns:a16="http://schemas.microsoft.com/office/drawing/2014/main" id="{A797D957-3A2C-42DF-B73E-CBB47BE036B7}"/>
                  </a:ext>
                </a:extLst>
              </p:cNvPr>
              <p:cNvSpPr/>
              <p:nvPr/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7715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35959F4-53DA-47FF-BC24-1E5B75C69876}"/>
              </a:ext>
            </a:extLst>
          </p:cNvPr>
          <p:cNvSpPr/>
          <p:nvPr/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7CF83E8-F6F0-41E3-B580-7412A04DDFB5}"/>
              </a:ext>
            </a:extLst>
          </p:cNvPr>
          <p:cNvGrpSpPr/>
          <p:nvPr/>
        </p:nvGrpSpPr>
        <p:grpSpPr>
          <a:xfrm>
            <a:off x="10776050" y="5204030"/>
            <a:ext cx="886141" cy="802497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</a:extLst>
            </p:cNvPr>
            <p:cNvSpPr/>
            <p:nvPr/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</a:extLst>
            </p:cNvPr>
            <p:cNvSpPr/>
            <p:nvPr/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</a:extLst>
            </p:cNvPr>
            <p:cNvSpPr/>
            <p:nvPr/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4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</a:extLst>
            </p:cNvPr>
            <p:cNvSpPr/>
            <p:nvPr/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</a:extLst>
            </p:cNvPr>
            <p:cNvSpPr/>
            <p:nvPr/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</a:extLst>
            </p:cNvPr>
            <p:cNvSpPr/>
            <p:nvPr/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</a:extLst>
            </p:cNvPr>
            <p:cNvSpPr/>
            <p:nvPr/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9226104-0061-4319-8237-9C001BF85D49}"/>
              </a:ext>
            </a:extLst>
          </p:cNvPr>
          <p:cNvSpPr/>
          <p:nvPr/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7" y="787068"/>
            <a:ext cx="10077557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717" y="2521885"/>
            <a:ext cx="10077557" cy="354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5718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769D389-4C4C-4FD7-9E6B-9F44477F0EB8}" type="datetime1">
              <a:rPr lang="en-US" smtClean="0"/>
              <a:t>24-Dec-24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5718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55367" y="6356350"/>
            <a:ext cx="529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spc="11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E1076ED0-0DB3-4879-AAE5-5C20D22C1D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933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i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78">
            <a:extLst>
              <a:ext uri="{FF2B5EF4-FFF2-40B4-BE49-F238E27FC236}">
                <a16:creationId xmlns:a16="http://schemas.microsoft.com/office/drawing/2014/main" id="{AC552FEA-472E-4E74-B31D-531852C190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231056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3" name="Graphic 78">
              <a:extLst>
                <a:ext uri="{FF2B5EF4-FFF2-40B4-BE49-F238E27FC236}">
                  <a16:creationId xmlns:a16="http://schemas.microsoft.com/office/drawing/2014/main" id="{41DF3078-C636-4776-A616-D5BF3BC280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aphic 78">
              <a:extLst>
                <a:ext uri="{FF2B5EF4-FFF2-40B4-BE49-F238E27FC236}">
                  <a16:creationId xmlns:a16="http://schemas.microsoft.com/office/drawing/2014/main" id="{0D1A27FA-1310-4BC3-A071-1566746B2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99ACB9EB-84FE-4B33-9EF9-4EC7DAC25D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826E5EFB-0EF9-4DB8-99CB-5DD72009DB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86238E12-0689-4123-8B2E-E1CCFCC4C8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8538CF67-A00E-4955-A447-001BE02E77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2F9C493A-9F03-49B4-B3FB-19CE5AC115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1AE972-4858-8CBE-81F0-AC407A3407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717" y="787068"/>
            <a:ext cx="5566263" cy="145509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University Campus Network Design 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0A46C7D-C1BB-49B8-8D37-39742820E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2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aphic 78">
            <a:extLst>
              <a:ext uri="{FF2B5EF4-FFF2-40B4-BE49-F238E27FC236}">
                <a16:creationId xmlns:a16="http://schemas.microsoft.com/office/drawing/2014/main" id="{61BBAB6F-65E6-4E2B-B363-6AB27C84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25717" y="2585111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5" name="Graphic 78">
              <a:extLst>
                <a:ext uri="{FF2B5EF4-FFF2-40B4-BE49-F238E27FC236}">
                  <a16:creationId xmlns:a16="http://schemas.microsoft.com/office/drawing/2014/main" id="{6DA3BBB2-E620-4C13-98C9-FE1EF7D2E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aphic 78">
              <a:extLst>
                <a:ext uri="{FF2B5EF4-FFF2-40B4-BE49-F238E27FC236}">
                  <a16:creationId xmlns:a16="http://schemas.microsoft.com/office/drawing/2014/main" id="{ADC9AB5D-88A1-4FA9-B467-E8EF8FFE5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0867B8E5-4535-4743-8235-6612FEA410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BE48FEA7-5915-4751-8090-63F3094324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32B378CE-44FD-4120-B9ED-7828D4EE9A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Graphic 78">
                <a:extLst>
                  <a:ext uri="{FF2B5EF4-FFF2-40B4-BE49-F238E27FC236}">
                    <a16:creationId xmlns:a16="http://schemas.microsoft.com/office/drawing/2014/main" id="{40FA43D3-D34B-4BC7-80D0-F3E75A222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2A2FBE48-6C01-E6B2-FB81-8341B618C1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717" y="2796427"/>
            <a:ext cx="5566263" cy="327450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>
                <a:effectLst/>
              </a:rPr>
              <a:t>Yasser Zaher 202201077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Yehia Hesham 202202135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Mostafa Mohamed 202202060</a:t>
            </a:r>
            <a:br>
              <a:rPr lang="en-US">
                <a:effectLst/>
              </a:rPr>
            </a:br>
            <a:r>
              <a:rPr lang="en-US">
                <a:effectLst/>
              </a:rPr>
              <a:t>Ahmed Wael 202201415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C6CE38-5244-0306-5516-BD44FD1D00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70" r="6702" b="-1"/>
          <a:stretch/>
        </p:blipFill>
        <p:spPr>
          <a:xfrm>
            <a:off x="6531789" y="10"/>
            <a:ext cx="5660211" cy="6857990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55820E42-2F9D-41EF-B67F-522A133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3D9BC31-B57D-4933-AD83-94F462D4C2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84AFEA3-A055-41AE-96F3-34BA58142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028771F-62FA-4349-B7A8-CE1682D2CE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19CDEE6-CB2F-49F0-B237-2A26A3D1D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8" name="Graphic 12">
              <a:extLst>
                <a:ext uri="{FF2B5EF4-FFF2-40B4-BE49-F238E27FC236}">
                  <a16:creationId xmlns:a16="http://schemas.microsoft.com/office/drawing/2014/main" id="{3DD82286-02D2-4210-A797-5D502D44A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15">
              <a:extLst>
                <a:ext uri="{FF2B5EF4-FFF2-40B4-BE49-F238E27FC236}">
                  <a16:creationId xmlns:a16="http://schemas.microsoft.com/office/drawing/2014/main" id="{735449F4-80DA-4E06-B3B6-B9F519F4A6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Graphic 15">
              <a:extLst>
                <a:ext uri="{FF2B5EF4-FFF2-40B4-BE49-F238E27FC236}">
                  <a16:creationId xmlns:a16="http://schemas.microsoft.com/office/drawing/2014/main" id="{61FABA3B-05B6-433C-90F9-8D9691A84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1FEBA45-D0A3-4091-9956-161EDA21A0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52953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42D98E1-37D2-4470-BF74-845E8979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6EE5AC-3F8C-32B7-0087-A9E028401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775403"/>
            <a:ext cx="5512288" cy="1488779"/>
          </a:xfrm>
        </p:spPr>
        <p:txBody>
          <a:bodyPr anchor="t">
            <a:normAutofit/>
          </a:bodyPr>
          <a:lstStyle/>
          <a:p>
            <a:r>
              <a:rPr lang="en-US" dirty="0"/>
              <a:t>Introduction</a:t>
            </a:r>
          </a:p>
        </p:txBody>
      </p:sp>
      <p:grpSp>
        <p:nvGrpSpPr>
          <p:cNvPr id="13" name="Graphic 78">
            <a:extLst>
              <a:ext uri="{FF2B5EF4-FFF2-40B4-BE49-F238E27FC236}">
                <a16:creationId xmlns:a16="http://schemas.microsoft.com/office/drawing/2014/main" id="{2EDC2578-BDB0-4118-975D-CFCE02823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63724" y="776109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14" name="Graphic 78">
              <a:extLst>
                <a:ext uri="{FF2B5EF4-FFF2-40B4-BE49-F238E27FC236}">
                  <a16:creationId xmlns:a16="http://schemas.microsoft.com/office/drawing/2014/main" id="{FB6536F0-4A9C-46C9-96E9-22CBB33E6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aphic 78">
              <a:extLst>
                <a:ext uri="{FF2B5EF4-FFF2-40B4-BE49-F238E27FC236}">
                  <a16:creationId xmlns:a16="http://schemas.microsoft.com/office/drawing/2014/main" id="{DFD6A33A-F889-42D7-ADC2-DD9B88DF0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16" name="Graphic 78">
                <a:extLst>
                  <a:ext uri="{FF2B5EF4-FFF2-40B4-BE49-F238E27FC236}">
                    <a16:creationId xmlns:a16="http://schemas.microsoft.com/office/drawing/2014/main" id="{C375AFD7-9E86-4D19-B86E-C936D33B0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Graphic 78">
                <a:extLst>
                  <a:ext uri="{FF2B5EF4-FFF2-40B4-BE49-F238E27FC236}">
                    <a16:creationId xmlns:a16="http://schemas.microsoft.com/office/drawing/2014/main" id="{4102C78E-31A2-4DB3-8790-415EB0B48A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Graphic 78">
                <a:extLst>
                  <a:ext uri="{FF2B5EF4-FFF2-40B4-BE49-F238E27FC236}">
                    <a16:creationId xmlns:a16="http://schemas.microsoft.com/office/drawing/2014/main" id="{4F3E144D-8167-438A-B67F-50F5D9C0C3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Graphic 78">
                <a:extLst>
                  <a:ext uri="{FF2B5EF4-FFF2-40B4-BE49-F238E27FC236}">
                    <a16:creationId xmlns:a16="http://schemas.microsoft.com/office/drawing/2014/main" id="{4BE2135F-02C1-449F-B195-232E9AFDD6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Content Placeholder 3" descr="A diagram of a network&#10;&#10;Description automatically generated">
            <a:extLst>
              <a:ext uri="{FF2B5EF4-FFF2-40B4-BE49-F238E27FC236}">
                <a16:creationId xmlns:a16="http://schemas.microsoft.com/office/drawing/2014/main" id="{6FD74467-243B-349B-D1F8-BB3E38EEF2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055" y="2180492"/>
            <a:ext cx="5503006" cy="4082483"/>
          </a:xfrm>
          <a:prstGeom prst="rect">
            <a:avLst/>
          </a:prstGeom>
        </p:spPr>
      </p:pic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53522E4-8427-5DA1-8827-0A22D9AE2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4040" y="1114691"/>
            <a:ext cx="4159233" cy="5144455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objective of this project is to design an efficient network for a university campus. Its purpose is to connect faculties, laboratories, and the Scientific Computation Center, ensuring seamless access to both internal and external networks. The scope of the project includes a hierarchical design that incorporates routing, VLAN configurations, and optimized IP addressing to meet the campus's networking needs effectively.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E1BEDD21-8CC9-4E04-B8CF-CE59786DF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6DA475A-533E-4A16-A83E-0171FFB6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0732601" y="535113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EB076CD-5E1A-4B4E-8434-EB36C96CD9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6EB8026-10C9-4869-9F11-AD4C064F9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49D45E4-020D-4F13-BA0F-A5307EA2A3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27" name="Graphic 12">
              <a:extLst>
                <a:ext uri="{FF2B5EF4-FFF2-40B4-BE49-F238E27FC236}">
                  <a16:creationId xmlns:a16="http://schemas.microsoft.com/office/drawing/2014/main" id="{9C88C3FA-F709-4D00-9E6D-882DB1E285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Graphic 15">
              <a:extLst>
                <a:ext uri="{FF2B5EF4-FFF2-40B4-BE49-F238E27FC236}">
                  <a16:creationId xmlns:a16="http://schemas.microsoft.com/office/drawing/2014/main" id="{7EDA809C-8B77-4778-9050-82BA49976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Graphic 15">
              <a:extLst>
                <a:ext uri="{FF2B5EF4-FFF2-40B4-BE49-F238E27FC236}">
                  <a16:creationId xmlns:a16="http://schemas.microsoft.com/office/drawing/2014/main" id="{592CBFFA-9E14-4482-8D59-A989BAD45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801BD80-BE9E-4AFB-BEF4-435B40BD2E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66858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2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3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5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5D0B0D3-D735-4619-AA45-B57B791E1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946D49-3020-75F8-D7DB-0A33A31BB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1122363"/>
            <a:ext cx="4887206" cy="19783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Faculties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D505D40-32E9-4C48-81F8-AD80433BE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-7670"/>
            <a:ext cx="3129498" cy="888208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507BF36-B92B-4CAC-BCA7-8364B51E1F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 flipV="1">
            <a:off x="1701611" y="285553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2276237E-3A6D-452F-879C-FB8C77A18D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8BC9243-F4BF-48A7-89AE-DFA5B37DE6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DE414EC-F3DF-412E-9B22-5328DAA99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38" name="Graphic 12">
              <a:extLst>
                <a:ext uri="{FF2B5EF4-FFF2-40B4-BE49-F238E27FC236}">
                  <a16:creationId xmlns:a16="http://schemas.microsoft.com/office/drawing/2014/main" id="{039C06B1-FDEA-47B1-8222-7D622CD72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Graphic 15">
              <a:extLst>
                <a:ext uri="{FF2B5EF4-FFF2-40B4-BE49-F238E27FC236}">
                  <a16:creationId xmlns:a16="http://schemas.microsoft.com/office/drawing/2014/main" id="{B834C8C1-9BD1-4635-8E5B-65815F901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Graphic 15">
              <a:extLst>
                <a:ext uri="{FF2B5EF4-FFF2-40B4-BE49-F238E27FC236}">
                  <a16:creationId xmlns:a16="http://schemas.microsoft.com/office/drawing/2014/main" id="{2963D456-B3F4-4EDC-827E-645741F64D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3A58845-EFFB-4806-BC6D-47418C15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aphic 78">
            <a:extLst>
              <a:ext uri="{FF2B5EF4-FFF2-40B4-BE49-F238E27FC236}">
                <a16:creationId xmlns:a16="http://schemas.microsoft.com/office/drawing/2014/main" id="{DBBA0A0D-8F6A-400A-9E49-8C008E2C7D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44" name="Graphic 78">
              <a:extLst>
                <a:ext uri="{FF2B5EF4-FFF2-40B4-BE49-F238E27FC236}">
                  <a16:creationId xmlns:a16="http://schemas.microsoft.com/office/drawing/2014/main" id="{A5DD701E-4BC9-48E3-AF4F-013B52D63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aphic 78">
              <a:extLst>
                <a:ext uri="{FF2B5EF4-FFF2-40B4-BE49-F238E27FC236}">
                  <a16:creationId xmlns:a16="http://schemas.microsoft.com/office/drawing/2014/main" id="{FB658B62-664D-4B3B-BBDA-235666290B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46" name="Graphic 78">
                <a:extLst>
                  <a:ext uri="{FF2B5EF4-FFF2-40B4-BE49-F238E27FC236}">
                    <a16:creationId xmlns:a16="http://schemas.microsoft.com/office/drawing/2014/main" id="{B11F9D25-67B1-4BDB-A290-97B93A19DF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Graphic 78">
                <a:extLst>
                  <a:ext uri="{FF2B5EF4-FFF2-40B4-BE49-F238E27FC236}">
                    <a16:creationId xmlns:a16="http://schemas.microsoft.com/office/drawing/2014/main" id="{B9D5C40A-1B1B-4C25-9707-E8F1CF6EEC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Graphic 78">
                <a:extLst>
                  <a:ext uri="{FF2B5EF4-FFF2-40B4-BE49-F238E27FC236}">
                    <a16:creationId xmlns:a16="http://schemas.microsoft.com/office/drawing/2014/main" id="{2DD0C1D6-FF64-45AB-8775-83AB3C470B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Graphic 78">
                <a:extLst>
                  <a:ext uri="{FF2B5EF4-FFF2-40B4-BE49-F238E27FC236}">
                    <a16:creationId xmlns:a16="http://schemas.microsoft.com/office/drawing/2014/main" id="{15AFBB84-8485-4329-89FC-04663D985B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4" name="Content Placeholder 3" descr="A diagram of a network&#10;&#10;Description automatically generated">
            <a:extLst>
              <a:ext uri="{FF2B5EF4-FFF2-40B4-BE49-F238E27FC236}">
                <a16:creationId xmlns:a16="http://schemas.microsoft.com/office/drawing/2014/main" id="{64E7C57E-A666-2E2D-B4E3-CFBB723DDA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821" y="523382"/>
            <a:ext cx="8594354" cy="55218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871E05B-DC73-72EB-0D03-3164B71CCB27}"/>
              </a:ext>
            </a:extLst>
          </p:cNvPr>
          <p:cNvSpPr txBox="1"/>
          <p:nvPr/>
        </p:nvSpPr>
        <p:spPr>
          <a:xfrm>
            <a:off x="4722074" y="602444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4 faculties, each with 4 floors.</a:t>
            </a:r>
          </a:p>
        </p:txBody>
      </p:sp>
    </p:spTree>
    <p:extLst>
      <p:ext uri="{BB962C8B-B14F-4D97-AF65-F5344CB8AC3E}">
        <p14:creationId xmlns:p14="http://schemas.microsoft.com/office/powerpoint/2010/main" val="3918480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168FA-A417-A792-4245-1105279C8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Labs &amp; Scientific Computation Center</a:t>
            </a:r>
          </a:p>
        </p:txBody>
      </p:sp>
      <p:pic>
        <p:nvPicPr>
          <p:cNvPr id="5" name="Content Placeholder 4" descr="A diagram of a network&#10;&#10;Description automatically generated">
            <a:extLst>
              <a:ext uri="{FF2B5EF4-FFF2-40B4-BE49-F238E27FC236}">
                <a16:creationId xmlns:a16="http://schemas.microsoft.com/office/drawing/2014/main" id="{C5E82D03-443E-BC30-ABD7-96267118851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817" y="2522538"/>
            <a:ext cx="3976317" cy="3654425"/>
          </a:xfrm>
          <a:prstGeom prst="rect">
            <a:avLst/>
          </a:prstGeom>
        </p:spPr>
      </p:pic>
      <p:pic>
        <p:nvPicPr>
          <p:cNvPr id="6" name="Content Placeholder 5" descr="A diagram of a server&#10;&#10;Description automatically generated">
            <a:extLst>
              <a:ext uri="{FF2B5EF4-FFF2-40B4-BE49-F238E27FC236}">
                <a16:creationId xmlns:a16="http://schemas.microsoft.com/office/drawing/2014/main" id="{FD4F9E20-F32A-35F1-4939-07F726D6D3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813" y="2824932"/>
            <a:ext cx="4610100" cy="3049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BAC597-67EB-AD38-C0AF-8143AF853C3C}"/>
              </a:ext>
            </a:extLst>
          </p:cNvPr>
          <p:cNvSpPr txBox="1"/>
          <p:nvPr/>
        </p:nvSpPr>
        <p:spPr>
          <a:xfrm>
            <a:off x="5437239" y="588911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Scientific Computation Center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C0229D-EEE3-40B1-FB7F-36DFBD031464}"/>
              </a:ext>
            </a:extLst>
          </p:cNvPr>
          <p:cNvSpPr txBox="1"/>
          <p:nvPr/>
        </p:nvSpPr>
        <p:spPr>
          <a:xfrm>
            <a:off x="-200025" y="621753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Labs</a:t>
            </a:r>
          </a:p>
        </p:txBody>
      </p:sp>
    </p:spTree>
    <p:extLst>
      <p:ext uri="{BB962C8B-B14F-4D97-AF65-F5344CB8AC3E}">
        <p14:creationId xmlns:p14="http://schemas.microsoft.com/office/powerpoint/2010/main" val="1205410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7910A-A3A8-4BD0-3ADA-C69212170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6388-CA16-ABF3-34C1-AA1C66404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" y="2521887"/>
            <a:ext cx="11951418" cy="3549045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o	All lab switches on a floor connect to a floor switch.</a:t>
            </a:r>
          </a:p>
          <a:p>
            <a:r>
              <a:rPr lang="en-US" dirty="0"/>
              <a:t>o	Floor switches connect to a main faculty switch.</a:t>
            </a:r>
          </a:p>
          <a:p>
            <a:r>
              <a:rPr lang="en-US" dirty="0"/>
              <a:t>o	The main faculty switch and Scientific Computation Center connect to the university router.</a:t>
            </a:r>
          </a:p>
          <a:p>
            <a:r>
              <a:rPr lang="en-US" dirty="0"/>
              <a:t>External Connectivity: The university router links to the World Wide Web.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402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35959F4-53DA-47FF-BC24-1E5B75C69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53030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7CF83E8-F6F0-41E3-B580-7412A04DDF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76050" y="520402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A0B6DBB-705D-48D0-842C-F9DFA7684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194A764-16E1-4D0D-9357-76F80E608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15B7F3F-A40D-4F24-8536-E2420B4332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CEF42844-A829-4ED2-A360-63BB2A7C4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57B23B52-A1C3-44EF-BC11-9094A0DA1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Graphic 15">
              <a:extLst>
                <a:ext uri="{FF2B5EF4-FFF2-40B4-BE49-F238E27FC236}">
                  <a16:creationId xmlns:a16="http://schemas.microsoft.com/office/drawing/2014/main" id="{064E08E5-DA92-4CF2-A0BF-E34180022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A222560-E657-4CAE-B667-7BE9E224B2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59226104-0061-4319-8237-9C001BF85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3" name="Graphic 78">
            <a:extLst>
              <a:ext uri="{FF2B5EF4-FFF2-40B4-BE49-F238E27FC236}">
                <a16:creationId xmlns:a16="http://schemas.microsoft.com/office/drawing/2014/main" id="{51B01909-73B8-4486-A749-C643B1D7E3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30225" y="3267662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24" name="Graphic 78">
              <a:extLst>
                <a:ext uri="{FF2B5EF4-FFF2-40B4-BE49-F238E27FC236}">
                  <a16:creationId xmlns:a16="http://schemas.microsoft.com/office/drawing/2014/main" id="{5E279D86-4533-45F1-B0AA-D237399A5E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aphic 78">
              <a:extLst>
                <a:ext uri="{FF2B5EF4-FFF2-40B4-BE49-F238E27FC236}">
                  <a16:creationId xmlns:a16="http://schemas.microsoft.com/office/drawing/2014/main" id="{764FD722-CB31-4326-ADD8-CBA52FD1F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26" name="Graphic 78">
                <a:extLst>
                  <a:ext uri="{FF2B5EF4-FFF2-40B4-BE49-F238E27FC236}">
                    <a16:creationId xmlns:a16="http://schemas.microsoft.com/office/drawing/2014/main" id="{24E4BCEC-8B0A-444E-8509-1B3BB0449E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Graphic 78">
                <a:extLst>
                  <a:ext uri="{FF2B5EF4-FFF2-40B4-BE49-F238E27FC236}">
                    <a16:creationId xmlns:a16="http://schemas.microsoft.com/office/drawing/2014/main" id="{9DB36622-1DC7-4B17-8984-588BA8999F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Graphic 78">
                <a:extLst>
                  <a:ext uri="{FF2B5EF4-FFF2-40B4-BE49-F238E27FC236}">
                    <a16:creationId xmlns:a16="http://schemas.microsoft.com/office/drawing/2014/main" id="{51B97AF0-1974-42B9-B5FC-A332C52E82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Graphic 78">
                <a:extLst>
                  <a:ext uri="{FF2B5EF4-FFF2-40B4-BE49-F238E27FC236}">
                    <a16:creationId xmlns:a16="http://schemas.microsoft.com/office/drawing/2014/main" id="{95A298AD-BE5D-4BE1-8CDF-DBFB42D63F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B2E12-69EC-B863-2D1B-03B35CFC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452" y="971398"/>
            <a:ext cx="5577547" cy="15843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IP Addressing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E6A926-3B59-0803-5D22-DA67BC6EE3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52367" y="1204332"/>
            <a:ext cx="5021182" cy="13514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• Classless IP addressing optimizes the use of public IP addresses across networks.</a:t>
            </a:r>
          </a:p>
        </p:txBody>
      </p:sp>
      <p:grpSp>
        <p:nvGrpSpPr>
          <p:cNvPr id="33" name="Graphic 78">
            <a:extLst>
              <a:ext uri="{FF2B5EF4-FFF2-40B4-BE49-F238E27FC236}">
                <a16:creationId xmlns:a16="http://schemas.microsoft.com/office/drawing/2014/main" id="{674FBD09-398F-4886-8D52-3CCAB16ED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657951" y="971370"/>
            <a:ext cx="972241" cy="45718"/>
            <a:chOff x="4886325" y="3371754"/>
            <a:chExt cx="2418492" cy="113728"/>
          </a:xfrm>
          <a:solidFill>
            <a:schemeClr val="accent1"/>
          </a:solidFill>
        </p:grpSpPr>
        <p:sp>
          <p:nvSpPr>
            <p:cNvPr id="34" name="Graphic 78">
              <a:extLst>
                <a:ext uri="{FF2B5EF4-FFF2-40B4-BE49-F238E27FC236}">
                  <a16:creationId xmlns:a16="http://schemas.microsoft.com/office/drawing/2014/main" id="{794E9BAB-B9ED-4E72-B558-1E4B87537E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886325" y="3428428"/>
              <a:ext cx="2418302" cy="9525"/>
            </a:xfrm>
            <a:custGeom>
              <a:avLst/>
              <a:gdLst>
                <a:gd name="connsiteX0" fmla="*/ 0 w 2418302"/>
                <a:gd name="connsiteY0" fmla="*/ 0 h 9525"/>
                <a:gd name="connsiteX1" fmla="*/ 2418302 w 2418302"/>
                <a:gd name="connsiteY1" fmla="*/ 0 h 9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418302" h="9525">
                  <a:moveTo>
                    <a:pt x="0" y="0"/>
                  </a:moveTo>
                  <a:lnTo>
                    <a:pt x="2418302" y="0"/>
                  </a:ln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5" name="Graphic 78">
              <a:extLst>
                <a:ext uri="{FF2B5EF4-FFF2-40B4-BE49-F238E27FC236}">
                  <a16:creationId xmlns:a16="http://schemas.microsoft.com/office/drawing/2014/main" id="{809A1029-A1BA-4EF8-959B-2AF852A34D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886709" y="3371754"/>
              <a:ext cx="2418108" cy="113728"/>
              <a:chOff x="4886709" y="3371754"/>
              <a:chExt cx="2418108" cy="113728"/>
            </a:xfrm>
            <a:grpFill/>
          </p:grpSpPr>
          <p:sp>
            <p:nvSpPr>
              <p:cNvPr id="36" name="Graphic 78">
                <a:extLst>
                  <a:ext uri="{FF2B5EF4-FFF2-40B4-BE49-F238E27FC236}">
                    <a16:creationId xmlns:a16="http://schemas.microsoft.com/office/drawing/2014/main" id="{1618CAAA-B087-4302-8144-EFDD1D9FDB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95088" y="3474384"/>
                <a:ext cx="32575" cy="2906"/>
              </a:xfrm>
              <a:custGeom>
                <a:avLst/>
                <a:gdLst>
                  <a:gd name="connsiteX0" fmla="*/ 0 w 32575"/>
                  <a:gd name="connsiteY0" fmla="*/ 49 h 2906"/>
                  <a:gd name="connsiteX1" fmla="*/ 32576 w 32575"/>
                  <a:gd name="connsiteY1" fmla="*/ 2907 h 2906"/>
                  <a:gd name="connsiteX2" fmla="*/ 0 w 32575"/>
                  <a:gd name="connsiteY2" fmla="*/ 49 h 29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32575" h="2906">
                    <a:moveTo>
                      <a:pt x="0" y="49"/>
                    </a:moveTo>
                    <a:cubicBezTo>
                      <a:pt x="7430" y="2335"/>
                      <a:pt x="20384" y="2526"/>
                      <a:pt x="32576" y="2907"/>
                    </a:cubicBezTo>
                    <a:cubicBezTo>
                      <a:pt x="23146" y="716"/>
                      <a:pt x="13240" y="-236"/>
                      <a:pt x="0" y="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Graphic 78">
                <a:extLst>
                  <a:ext uri="{FF2B5EF4-FFF2-40B4-BE49-F238E27FC236}">
                    <a16:creationId xmlns:a16="http://schemas.microsoft.com/office/drawing/2014/main" id="{D71D93E1-AEA4-4F92-BA99-24786C8A11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27758" y="3477344"/>
                <a:ext cx="380" cy="42"/>
              </a:xfrm>
              <a:custGeom>
                <a:avLst/>
                <a:gdLst>
                  <a:gd name="connsiteX0" fmla="*/ 190 w 380"/>
                  <a:gd name="connsiteY0" fmla="*/ 42 h 42"/>
                  <a:gd name="connsiteX1" fmla="*/ 381 w 380"/>
                  <a:gd name="connsiteY1" fmla="*/ 42 h 42"/>
                  <a:gd name="connsiteX2" fmla="*/ 0 w 380"/>
                  <a:gd name="connsiteY2" fmla="*/ 42 h 42"/>
                  <a:gd name="connsiteX3" fmla="*/ 190 w 380"/>
                  <a:gd name="connsiteY3" fmla="*/ 42 h 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80" h="42">
                    <a:moveTo>
                      <a:pt x="190" y="42"/>
                    </a:moveTo>
                    <a:cubicBezTo>
                      <a:pt x="190" y="42"/>
                      <a:pt x="286" y="42"/>
                      <a:pt x="381" y="42"/>
                    </a:cubicBezTo>
                    <a:cubicBezTo>
                      <a:pt x="190" y="42"/>
                      <a:pt x="95" y="42"/>
                      <a:pt x="0" y="42"/>
                    </a:cubicBezTo>
                    <a:cubicBezTo>
                      <a:pt x="0" y="-53"/>
                      <a:pt x="95" y="42"/>
                      <a:pt x="190" y="42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Graphic 78">
                <a:extLst>
                  <a:ext uri="{FF2B5EF4-FFF2-40B4-BE49-F238E27FC236}">
                    <a16:creationId xmlns:a16="http://schemas.microsoft.com/office/drawing/2014/main" id="{CE7112A6-6EAE-4620-B089-30D687AA0A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285577" y="3374517"/>
                <a:ext cx="10001" cy="190"/>
              </a:xfrm>
              <a:custGeom>
                <a:avLst/>
                <a:gdLst>
                  <a:gd name="connsiteX0" fmla="*/ 10001 w 10001"/>
                  <a:gd name="connsiteY0" fmla="*/ 0 h 190"/>
                  <a:gd name="connsiteX1" fmla="*/ 0 w 10001"/>
                  <a:gd name="connsiteY1" fmla="*/ 191 h 190"/>
                  <a:gd name="connsiteX2" fmla="*/ 10001 w 10001"/>
                  <a:gd name="connsiteY2" fmla="*/ 0 h 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0001" h="190">
                    <a:moveTo>
                      <a:pt x="10001" y="0"/>
                    </a:moveTo>
                    <a:cubicBezTo>
                      <a:pt x="6953" y="0"/>
                      <a:pt x="3524" y="95"/>
                      <a:pt x="0" y="191"/>
                    </a:cubicBezTo>
                    <a:cubicBezTo>
                      <a:pt x="3334" y="191"/>
                      <a:pt x="6763" y="191"/>
                      <a:pt x="10001" y="0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Graphic 78">
                <a:extLst>
                  <a:ext uri="{FF2B5EF4-FFF2-40B4-BE49-F238E27FC236}">
                    <a16:creationId xmlns:a16="http://schemas.microsoft.com/office/drawing/2014/main" id="{6F45DEA9-D350-4D7C-B408-D0250EE30C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886709" y="3371754"/>
                <a:ext cx="2418108" cy="113728"/>
              </a:xfrm>
              <a:custGeom>
                <a:avLst/>
                <a:gdLst>
                  <a:gd name="connsiteX0" fmla="*/ 632266 w 2418108"/>
                  <a:gd name="connsiteY0" fmla="*/ 112205 h 113728"/>
                  <a:gd name="connsiteX1" fmla="*/ 723039 w 2418108"/>
                  <a:gd name="connsiteY1" fmla="*/ 109538 h 113728"/>
                  <a:gd name="connsiteX2" fmla="*/ 735136 w 2418108"/>
                  <a:gd name="connsiteY2" fmla="*/ 111823 h 113728"/>
                  <a:gd name="connsiteX3" fmla="*/ 752471 w 2418108"/>
                  <a:gd name="connsiteY3" fmla="*/ 108680 h 113728"/>
                  <a:gd name="connsiteX4" fmla="*/ 772569 w 2418108"/>
                  <a:gd name="connsiteY4" fmla="*/ 110585 h 113728"/>
                  <a:gd name="connsiteX5" fmla="*/ 1112993 w 2418108"/>
                  <a:gd name="connsiteY5" fmla="*/ 112967 h 113728"/>
                  <a:gd name="connsiteX6" fmla="*/ 1083465 w 2418108"/>
                  <a:gd name="connsiteY6" fmla="*/ 108776 h 113728"/>
                  <a:gd name="connsiteX7" fmla="*/ 1296825 w 2418108"/>
                  <a:gd name="connsiteY7" fmla="*/ 108966 h 113728"/>
                  <a:gd name="connsiteX8" fmla="*/ 1346736 w 2418108"/>
                  <a:gd name="connsiteY8" fmla="*/ 103632 h 113728"/>
                  <a:gd name="connsiteX9" fmla="*/ 1360643 w 2418108"/>
                  <a:gd name="connsiteY9" fmla="*/ 107633 h 113728"/>
                  <a:gd name="connsiteX10" fmla="*/ 1381788 w 2418108"/>
                  <a:gd name="connsiteY10" fmla="*/ 107442 h 113728"/>
                  <a:gd name="connsiteX11" fmla="*/ 1371692 w 2418108"/>
                  <a:gd name="connsiteY11" fmla="*/ 106490 h 113728"/>
                  <a:gd name="connsiteX12" fmla="*/ 1430080 w 2418108"/>
                  <a:gd name="connsiteY12" fmla="*/ 105537 h 113728"/>
                  <a:gd name="connsiteX13" fmla="*/ 1420269 w 2418108"/>
                  <a:gd name="connsiteY13" fmla="*/ 104108 h 113728"/>
                  <a:gd name="connsiteX14" fmla="*/ 1455702 w 2418108"/>
                  <a:gd name="connsiteY14" fmla="*/ 107061 h 113728"/>
                  <a:gd name="connsiteX15" fmla="*/ 1439414 w 2418108"/>
                  <a:gd name="connsiteY15" fmla="*/ 108109 h 113728"/>
                  <a:gd name="connsiteX16" fmla="*/ 1503613 w 2418108"/>
                  <a:gd name="connsiteY16" fmla="*/ 105918 h 113728"/>
                  <a:gd name="connsiteX17" fmla="*/ 1495802 w 2418108"/>
                  <a:gd name="connsiteY17" fmla="*/ 105823 h 113728"/>
                  <a:gd name="connsiteX18" fmla="*/ 1695923 w 2418108"/>
                  <a:gd name="connsiteY18" fmla="*/ 95155 h 113728"/>
                  <a:gd name="connsiteX19" fmla="*/ 1684016 w 2418108"/>
                  <a:gd name="connsiteY19" fmla="*/ 92488 h 113728"/>
                  <a:gd name="connsiteX20" fmla="*/ 1706210 w 2418108"/>
                  <a:gd name="connsiteY20" fmla="*/ 90202 h 113728"/>
                  <a:gd name="connsiteX21" fmla="*/ 1693351 w 2418108"/>
                  <a:gd name="connsiteY21" fmla="*/ 98108 h 113728"/>
                  <a:gd name="connsiteX22" fmla="*/ 2058539 w 2418108"/>
                  <a:gd name="connsiteY22" fmla="*/ 102203 h 113728"/>
                  <a:gd name="connsiteX23" fmla="*/ 2064540 w 2418108"/>
                  <a:gd name="connsiteY23" fmla="*/ 95060 h 113728"/>
                  <a:gd name="connsiteX24" fmla="*/ 2227132 w 2418108"/>
                  <a:gd name="connsiteY24" fmla="*/ 96203 h 113728"/>
                  <a:gd name="connsiteX25" fmla="*/ 2245229 w 2418108"/>
                  <a:gd name="connsiteY25" fmla="*/ 96869 h 113728"/>
                  <a:gd name="connsiteX26" fmla="*/ 2254278 w 2418108"/>
                  <a:gd name="connsiteY26" fmla="*/ 94393 h 113728"/>
                  <a:gd name="connsiteX27" fmla="*/ 2418108 w 2418108"/>
                  <a:gd name="connsiteY27" fmla="*/ 5810 h 113728"/>
                  <a:gd name="connsiteX28" fmla="*/ 2399058 w 2418108"/>
                  <a:gd name="connsiteY28" fmla="*/ 2858 h 113728"/>
                  <a:gd name="connsiteX29" fmla="*/ 2241039 w 2418108"/>
                  <a:gd name="connsiteY29" fmla="*/ 1905 h 113728"/>
                  <a:gd name="connsiteX30" fmla="*/ 2243991 w 2418108"/>
                  <a:gd name="connsiteY30" fmla="*/ 1048 h 113728"/>
                  <a:gd name="connsiteX31" fmla="*/ 2197128 w 2418108"/>
                  <a:gd name="connsiteY31" fmla="*/ 0 h 113728"/>
                  <a:gd name="connsiteX32" fmla="*/ 1710591 w 2418108"/>
                  <a:gd name="connsiteY32" fmla="*/ 6287 h 113728"/>
                  <a:gd name="connsiteX33" fmla="*/ 1713353 w 2418108"/>
                  <a:gd name="connsiteY33" fmla="*/ 5906 h 113728"/>
                  <a:gd name="connsiteX34" fmla="*/ 1210814 w 2418108"/>
                  <a:gd name="connsiteY34" fmla="*/ 7715 h 113728"/>
                  <a:gd name="connsiteX35" fmla="*/ 684463 w 2418108"/>
                  <a:gd name="connsiteY35" fmla="*/ 13716 h 113728"/>
                  <a:gd name="connsiteX36" fmla="*/ 687511 w 2418108"/>
                  <a:gd name="connsiteY36" fmla="*/ 12859 h 113728"/>
                  <a:gd name="connsiteX37" fmla="*/ 435670 w 2418108"/>
                  <a:gd name="connsiteY37" fmla="*/ 12192 h 113728"/>
                  <a:gd name="connsiteX38" fmla="*/ 440718 w 2418108"/>
                  <a:gd name="connsiteY38" fmla="*/ 12668 h 113728"/>
                  <a:gd name="connsiteX39" fmla="*/ 386807 w 2418108"/>
                  <a:gd name="connsiteY39" fmla="*/ 9906 h 113728"/>
                  <a:gd name="connsiteX40" fmla="*/ 16856 w 2418108"/>
                  <a:gd name="connsiteY40" fmla="*/ 12192 h 113728"/>
                  <a:gd name="connsiteX41" fmla="*/ 63528 w 2418108"/>
                  <a:gd name="connsiteY41" fmla="*/ 102870 h 113728"/>
                  <a:gd name="connsiteX42" fmla="*/ 42668 w 2418108"/>
                  <a:gd name="connsiteY42" fmla="*/ 102584 h 113728"/>
                  <a:gd name="connsiteX43" fmla="*/ 41430 w 2418108"/>
                  <a:gd name="connsiteY43" fmla="*/ 105537 h 113728"/>
                  <a:gd name="connsiteX44" fmla="*/ 54575 w 2418108"/>
                  <a:gd name="connsiteY44" fmla="*/ 105347 h 113728"/>
                  <a:gd name="connsiteX45" fmla="*/ 388140 w 2418108"/>
                  <a:gd name="connsiteY45" fmla="*/ 112109 h 113728"/>
                  <a:gd name="connsiteX46" fmla="*/ 482152 w 2418108"/>
                  <a:gd name="connsiteY46" fmla="*/ 113729 h 113728"/>
                  <a:gd name="connsiteX47" fmla="*/ 632266 w 2418108"/>
                  <a:gd name="connsiteY47" fmla="*/ 112205 h 1137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2418108" h="113728">
                    <a:moveTo>
                      <a:pt x="632266" y="112205"/>
                    </a:moveTo>
                    <a:cubicBezTo>
                      <a:pt x="656364" y="104680"/>
                      <a:pt x="694940" y="114110"/>
                      <a:pt x="723039" y="109538"/>
                    </a:cubicBezTo>
                    <a:cubicBezTo>
                      <a:pt x="722849" y="109919"/>
                      <a:pt x="735898" y="110109"/>
                      <a:pt x="735136" y="111823"/>
                    </a:cubicBezTo>
                    <a:cubicBezTo>
                      <a:pt x="735041" y="108776"/>
                      <a:pt x="767616" y="112300"/>
                      <a:pt x="752471" y="108680"/>
                    </a:cubicBezTo>
                    <a:cubicBezTo>
                      <a:pt x="754757" y="107633"/>
                      <a:pt x="790571" y="107633"/>
                      <a:pt x="772569" y="110585"/>
                    </a:cubicBezTo>
                    <a:cubicBezTo>
                      <a:pt x="822099" y="111633"/>
                      <a:pt x="1059653" y="114395"/>
                      <a:pt x="1112993" y="112967"/>
                    </a:cubicBezTo>
                    <a:cubicBezTo>
                      <a:pt x="1106135" y="110776"/>
                      <a:pt x="1089656" y="112205"/>
                      <a:pt x="1083465" y="108776"/>
                    </a:cubicBezTo>
                    <a:cubicBezTo>
                      <a:pt x="1153950" y="111728"/>
                      <a:pt x="1230626" y="113157"/>
                      <a:pt x="1296825" y="108966"/>
                    </a:cubicBezTo>
                    <a:cubicBezTo>
                      <a:pt x="1277680" y="103251"/>
                      <a:pt x="1356071" y="110966"/>
                      <a:pt x="1346736" y="103632"/>
                    </a:cubicBezTo>
                    <a:cubicBezTo>
                      <a:pt x="1351213" y="105347"/>
                      <a:pt x="1374454" y="106109"/>
                      <a:pt x="1360643" y="107633"/>
                    </a:cubicBezTo>
                    <a:cubicBezTo>
                      <a:pt x="1368548" y="107728"/>
                      <a:pt x="1376168" y="108299"/>
                      <a:pt x="1381788" y="107442"/>
                    </a:cubicBezTo>
                    <a:lnTo>
                      <a:pt x="1371692" y="106490"/>
                    </a:lnTo>
                    <a:cubicBezTo>
                      <a:pt x="1398266" y="106013"/>
                      <a:pt x="1412744" y="108680"/>
                      <a:pt x="1430080" y="105537"/>
                    </a:cubicBezTo>
                    <a:lnTo>
                      <a:pt x="1420269" y="104108"/>
                    </a:lnTo>
                    <a:cubicBezTo>
                      <a:pt x="1436176" y="103918"/>
                      <a:pt x="1449416" y="103632"/>
                      <a:pt x="1455702" y="107061"/>
                    </a:cubicBezTo>
                    <a:lnTo>
                      <a:pt x="1439414" y="108109"/>
                    </a:lnTo>
                    <a:cubicBezTo>
                      <a:pt x="1465799" y="108014"/>
                      <a:pt x="1481610" y="107823"/>
                      <a:pt x="1503613" y="105918"/>
                    </a:cubicBezTo>
                    <a:lnTo>
                      <a:pt x="1495802" y="105823"/>
                    </a:lnTo>
                    <a:cubicBezTo>
                      <a:pt x="1523806" y="102394"/>
                      <a:pt x="1670110" y="99441"/>
                      <a:pt x="1695923" y="95155"/>
                    </a:cubicBezTo>
                    <a:lnTo>
                      <a:pt x="1684016" y="92488"/>
                    </a:lnTo>
                    <a:lnTo>
                      <a:pt x="1706210" y="90202"/>
                    </a:lnTo>
                    <a:cubicBezTo>
                      <a:pt x="1703543" y="90202"/>
                      <a:pt x="1695542" y="98965"/>
                      <a:pt x="1693351" y="98108"/>
                    </a:cubicBezTo>
                    <a:cubicBezTo>
                      <a:pt x="1757549" y="99441"/>
                      <a:pt x="2045109" y="91345"/>
                      <a:pt x="2058539" y="102203"/>
                    </a:cubicBezTo>
                    <a:cubicBezTo>
                      <a:pt x="2079780" y="101917"/>
                      <a:pt x="2071303" y="103918"/>
                      <a:pt x="2064540" y="95060"/>
                    </a:cubicBezTo>
                    <a:cubicBezTo>
                      <a:pt x="2086638" y="95441"/>
                      <a:pt x="2259707" y="88773"/>
                      <a:pt x="2227132" y="96203"/>
                    </a:cubicBezTo>
                    <a:cubicBezTo>
                      <a:pt x="2232371" y="96298"/>
                      <a:pt x="2240372" y="95917"/>
                      <a:pt x="2245229" y="96869"/>
                    </a:cubicBezTo>
                    <a:cubicBezTo>
                      <a:pt x="2235704" y="94583"/>
                      <a:pt x="2261708" y="95345"/>
                      <a:pt x="2254278" y="94393"/>
                    </a:cubicBezTo>
                    <a:cubicBezTo>
                      <a:pt x="2395724" y="108776"/>
                      <a:pt x="2341527" y="36576"/>
                      <a:pt x="2418108" y="5810"/>
                    </a:cubicBezTo>
                    <a:cubicBezTo>
                      <a:pt x="2398772" y="4763"/>
                      <a:pt x="2335717" y="7239"/>
                      <a:pt x="2399058" y="2858"/>
                    </a:cubicBezTo>
                    <a:cubicBezTo>
                      <a:pt x="2343527" y="-572"/>
                      <a:pt x="2296283" y="1238"/>
                      <a:pt x="2241039" y="1905"/>
                    </a:cubicBezTo>
                    <a:lnTo>
                      <a:pt x="2243991" y="1048"/>
                    </a:lnTo>
                    <a:cubicBezTo>
                      <a:pt x="2234181" y="-381"/>
                      <a:pt x="2214845" y="1524"/>
                      <a:pt x="2197128" y="0"/>
                    </a:cubicBezTo>
                    <a:cubicBezTo>
                      <a:pt x="2115880" y="6096"/>
                      <a:pt x="1816128" y="3524"/>
                      <a:pt x="1710591" y="6287"/>
                    </a:cubicBezTo>
                    <a:lnTo>
                      <a:pt x="1713353" y="5906"/>
                    </a:lnTo>
                    <a:cubicBezTo>
                      <a:pt x="1577146" y="5429"/>
                      <a:pt x="1349308" y="11240"/>
                      <a:pt x="1210814" y="7715"/>
                    </a:cubicBezTo>
                    <a:cubicBezTo>
                      <a:pt x="1095848" y="23717"/>
                      <a:pt x="819051" y="5429"/>
                      <a:pt x="684463" y="13716"/>
                    </a:cubicBezTo>
                    <a:lnTo>
                      <a:pt x="687511" y="12859"/>
                    </a:lnTo>
                    <a:cubicBezTo>
                      <a:pt x="655316" y="14192"/>
                      <a:pt x="473008" y="10954"/>
                      <a:pt x="435670" y="12192"/>
                    </a:cubicBezTo>
                    <a:lnTo>
                      <a:pt x="440718" y="12668"/>
                    </a:lnTo>
                    <a:cubicBezTo>
                      <a:pt x="408047" y="14764"/>
                      <a:pt x="412524" y="11049"/>
                      <a:pt x="386807" y="9906"/>
                    </a:cubicBezTo>
                    <a:cubicBezTo>
                      <a:pt x="275174" y="28004"/>
                      <a:pt x="142395" y="18764"/>
                      <a:pt x="16856" y="12192"/>
                    </a:cubicBezTo>
                    <a:cubicBezTo>
                      <a:pt x="-6195" y="35528"/>
                      <a:pt x="-17434" y="114395"/>
                      <a:pt x="63528" y="102870"/>
                    </a:cubicBezTo>
                    <a:cubicBezTo>
                      <a:pt x="63528" y="102870"/>
                      <a:pt x="42668" y="102584"/>
                      <a:pt x="42668" y="102584"/>
                    </a:cubicBezTo>
                    <a:cubicBezTo>
                      <a:pt x="58004" y="103156"/>
                      <a:pt x="47336" y="104299"/>
                      <a:pt x="41430" y="105537"/>
                    </a:cubicBezTo>
                    <a:cubicBezTo>
                      <a:pt x="46764" y="105537"/>
                      <a:pt x="68386" y="107442"/>
                      <a:pt x="54575" y="105347"/>
                    </a:cubicBezTo>
                    <a:cubicBezTo>
                      <a:pt x="158588" y="108109"/>
                      <a:pt x="297462" y="110109"/>
                      <a:pt x="388140" y="112109"/>
                    </a:cubicBezTo>
                    <a:cubicBezTo>
                      <a:pt x="420525" y="113348"/>
                      <a:pt x="453577" y="106680"/>
                      <a:pt x="482152" y="113729"/>
                    </a:cubicBezTo>
                    <a:cubicBezTo>
                      <a:pt x="477580" y="111919"/>
                      <a:pt x="629885" y="111728"/>
                      <a:pt x="632266" y="11220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Content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73C3AD2E-6604-BF6F-1C17-428D698CC9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443"/>
          <a:stretch/>
        </p:blipFill>
        <p:spPr>
          <a:xfrm>
            <a:off x="976374" y="2934204"/>
            <a:ext cx="10227478" cy="3317544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11E84B46-9597-410B-A51F-E2E0F2FAF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66006" y="5516668"/>
            <a:ext cx="2438970" cy="1341332"/>
          </a:xfrm>
          <a:custGeom>
            <a:avLst/>
            <a:gdLst>
              <a:gd name="connsiteX0" fmla="*/ 2025355 w 2438970"/>
              <a:gd name="connsiteY0" fmla="*/ 235 h 1341332"/>
              <a:gd name="connsiteX1" fmla="*/ 2381960 w 2438970"/>
              <a:gd name="connsiteY1" fmla="*/ 44517 h 1341332"/>
              <a:gd name="connsiteX2" fmla="*/ 2438970 w 2438970"/>
              <a:gd name="connsiteY2" fmla="*/ 58872 h 1341332"/>
              <a:gd name="connsiteX3" fmla="*/ 2438970 w 2438970"/>
              <a:gd name="connsiteY3" fmla="*/ 1341332 h 1341332"/>
              <a:gd name="connsiteX4" fmla="*/ 0 w 2438970"/>
              <a:gd name="connsiteY4" fmla="*/ 1341332 h 1341332"/>
              <a:gd name="connsiteX5" fmla="*/ 13333 w 2438970"/>
              <a:gd name="connsiteY5" fmla="*/ 1328018 h 1341332"/>
              <a:gd name="connsiteX6" fmla="*/ 936262 w 2438970"/>
              <a:gd name="connsiteY6" fmla="*/ 459947 h 1341332"/>
              <a:gd name="connsiteX7" fmla="*/ 1554028 w 2438970"/>
              <a:gd name="connsiteY7" fmla="*/ 71153 h 1341332"/>
              <a:gd name="connsiteX8" fmla="*/ 2025355 w 2438970"/>
              <a:gd name="connsiteY8" fmla="*/ 235 h 1341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8970" h="1341332">
                <a:moveTo>
                  <a:pt x="2025355" y="235"/>
                </a:moveTo>
                <a:cubicBezTo>
                  <a:pt x="2143847" y="2306"/>
                  <a:pt x="2262766" y="17993"/>
                  <a:pt x="2381960" y="44517"/>
                </a:cubicBezTo>
                <a:lnTo>
                  <a:pt x="2438970" y="58872"/>
                </a:lnTo>
                <a:lnTo>
                  <a:pt x="2438970" y="1341332"/>
                </a:lnTo>
                <a:lnTo>
                  <a:pt x="0" y="1341332"/>
                </a:lnTo>
                <a:lnTo>
                  <a:pt x="13333" y="1328018"/>
                </a:lnTo>
                <a:cubicBezTo>
                  <a:pt x="324723" y="1028950"/>
                  <a:pt x="645390" y="738459"/>
                  <a:pt x="936262" y="459947"/>
                </a:cubicBezTo>
                <a:cubicBezTo>
                  <a:pt x="1139660" y="265152"/>
                  <a:pt x="1345794" y="140817"/>
                  <a:pt x="1554028" y="71153"/>
                </a:cubicBezTo>
                <a:cubicBezTo>
                  <a:pt x="1710136" y="18918"/>
                  <a:pt x="1867365" y="-2526"/>
                  <a:pt x="2025355" y="235"/>
                </a:cubicBez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3D4FD378-E29E-4996-A8B0-11E2368A6E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10732601" y="5351135"/>
            <a:ext cx="886141" cy="802496"/>
            <a:chOff x="10948005" y="3272152"/>
            <a:chExt cx="868640" cy="786648"/>
          </a:xfrm>
          <a:solidFill>
            <a:schemeClr val="accent1"/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BA59DF4-225D-4521-9655-5F0DF52E4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94317" y="3944888"/>
              <a:ext cx="128449" cy="113912"/>
            </a:xfrm>
            <a:custGeom>
              <a:avLst/>
              <a:gdLst>
                <a:gd name="connsiteX0" fmla="*/ 237621 w 453152"/>
                <a:gd name="connsiteY0" fmla="*/ 965 h 401867"/>
                <a:gd name="connsiteX1" fmla="*/ 370246 w 453152"/>
                <a:gd name="connsiteY1" fmla="*/ 23666 h 401867"/>
                <a:gd name="connsiteX2" fmla="*/ 437392 w 453152"/>
                <a:gd name="connsiteY2" fmla="*/ 198545 h 401867"/>
                <a:gd name="connsiteX3" fmla="*/ 67745 w 453152"/>
                <a:gd name="connsiteY3" fmla="*/ 392003 h 401867"/>
                <a:gd name="connsiteX4" fmla="*/ 911 w 453152"/>
                <a:gd name="connsiteY4" fmla="*/ 254095 h 401867"/>
                <a:gd name="connsiteX5" fmla="*/ 115564 w 453152"/>
                <a:gd name="connsiteY5" fmla="*/ 51160 h 401867"/>
                <a:gd name="connsiteX6" fmla="*/ 237621 w 453152"/>
                <a:gd name="connsiteY6" fmla="*/ 965 h 401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3152" h="401867">
                  <a:moveTo>
                    <a:pt x="237621" y="965"/>
                  </a:moveTo>
                  <a:cubicBezTo>
                    <a:pt x="283632" y="-2971"/>
                    <a:pt x="331405" y="5243"/>
                    <a:pt x="370246" y="23666"/>
                  </a:cubicBezTo>
                  <a:cubicBezTo>
                    <a:pt x="436830" y="55275"/>
                    <a:pt x="477168" y="116810"/>
                    <a:pt x="437392" y="198545"/>
                  </a:cubicBezTo>
                  <a:cubicBezTo>
                    <a:pt x="391568" y="292624"/>
                    <a:pt x="176850" y="441630"/>
                    <a:pt x="67745" y="392003"/>
                  </a:cubicBezTo>
                  <a:cubicBezTo>
                    <a:pt x="18056" y="369372"/>
                    <a:pt x="-5012" y="308398"/>
                    <a:pt x="911" y="254095"/>
                  </a:cubicBezTo>
                  <a:cubicBezTo>
                    <a:pt x="9203" y="178033"/>
                    <a:pt x="61012" y="103094"/>
                    <a:pt x="115564" y="51160"/>
                  </a:cubicBezTo>
                  <a:cubicBezTo>
                    <a:pt x="147361" y="20985"/>
                    <a:pt x="191610" y="4900"/>
                    <a:pt x="237621" y="96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C5295146-5EA5-417D-AAEE-F59000BC67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53045" y="3808430"/>
              <a:ext cx="144912" cy="193414"/>
            </a:xfrm>
            <a:custGeom>
              <a:avLst/>
              <a:gdLst>
                <a:gd name="connsiteX0" fmla="*/ 390625 w 511232"/>
                <a:gd name="connsiteY0" fmla="*/ 1621 h 682341"/>
                <a:gd name="connsiteX1" fmla="*/ 508142 w 511232"/>
                <a:gd name="connsiteY1" fmla="*/ 64038 h 682341"/>
                <a:gd name="connsiteX2" fmla="*/ 508453 w 511232"/>
                <a:gd name="connsiteY2" fmla="*/ 121832 h 682341"/>
                <a:gd name="connsiteX3" fmla="*/ 316492 w 511232"/>
                <a:gd name="connsiteY3" fmla="*/ 567602 h 682341"/>
                <a:gd name="connsiteX4" fmla="*/ 80265 w 511232"/>
                <a:gd name="connsiteY4" fmla="*/ 640359 h 682341"/>
                <a:gd name="connsiteX5" fmla="*/ 13306 w 511232"/>
                <a:gd name="connsiteY5" fmla="*/ 274828 h 682341"/>
                <a:gd name="connsiteX6" fmla="*/ 140989 w 511232"/>
                <a:gd name="connsiteY6" fmla="*/ 107181 h 682341"/>
                <a:gd name="connsiteX7" fmla="*/ 390625 w 511232"/>
                <a:gd name="connsiteY7" fmla="*/ 1621 h 682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1232" h="682341">
                  <a:moveTo>
                    <a:pt x="390625" y="1621"/>
                  </a:moveTo>
                  <a:cubicBezTo>
                    <a:pt x="446543" y="-5212"/>
                    <a:pt x="493343" y="8441"/>
                    <a:pt x="508142" y="64038"/>
                  </a:cubicBezTo>
                  <a:cubicBezTo>
                    <a:pt x="513192" y="82866"/>
                    <a:pt x="511134" y="102754"/>
                    <a:pt x="508453" y="121832"/>
                  </a:cubicBezTo>
                  <a:cubicBezTo>
                    <a:pt x="485324" y="287796"/>
                    <a:pt x="417242" y="443971"/>
                    <a:pt x="316492" y="567602"/>
                  </a:cubicBezTo>
                  <a:cubicBezTo>
                    <a:pt x="253024" y="645534"/>
                    <a:pt x="165055" y="737743"/>
                    <a:pt x="80265" y="640359"/>
                  </a:cubicBezTo>
                  <a:cubicBezTo>
                    <a:pt x="5014" y="553948"/>
                    <a:pt x="-17368" y="383621"/>
                    <a:pt x="13306" y="274828"/>
                  </a:cubicBezTo>
                  <a:cubicBezTo>
                    <a:pt x="33443" y="203318"/>
                    <a:pt x="83382" y="146521"/>
                    <a:pt x="140989" y="107181"/>
                  </a:cubicBezTo>
                  <a:cubicBezTo>
                    <a:pt x="178904" y="81308"/>
                    <a:pt x="297428" y="13010"/>
                    <a:pt x="390625" y="16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3768FE2E-63BB-4E2F-8744-A188E6C61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84524" y="3907536"/>
              <a:ext cx="132121" cy="93006"/>
            </a:xfrm>
            <a:custGeom>
              <a:avLst/>
              <a:gdLst>
                <a:gd name="connsiteX0" fmla="*/ 252822 w 466107"/>
                <a:gd name="connsiteY0" fmla="*/ 1539 h 328114"/>
                <a:gd name="connsiteX1" fmla="*/ 451641 w 466107"/>
                <a:gd name="connsiteY1" fmla="*/ 122177 h 328114"/>
                <a:gd name="connsiteX2" fmla="*/ 391790 w 466107"/>
                <a:gd name="connsiteY2" fmla="*/ 297430 h 328114"/>
                <a:gd name="connsiteX3" fmla="*/ 8614 w 466107"/>
                <a:gd name="connsiteY3" fmla="*/ 243252 h 328114"/>
                <a:gd name="connsiteX4" fmla="*/ 45897 w 466107"/>
                <a:gd name="connsiteY4" fmla="*/ 97302 h 328114"/>
                <a:gd name="connsiteX5" fmla="*/ 252822 w 466107"/>
                <a:gd name="connsiteY5" fmla="*/ 1539 h 328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6107" h="328114">
                  <a:moveTo>
                    <a:pt x="252822" y="1539"/>
                  </a:moveTo>
                  <a:cubicBezTo>
                    <a:pt x="335429" y="-10494"/>
                    <a:pt x="418848" y="49794"/>
                    <a:pt x="451641" y="122177"/>
                  </a:cubicBezTo>
                  <a:cubicBezTo>
                    <a:pt x="479697" y="184273"/>
                    <a:pt x="470594" y="255285"/>
                    <a:pt x="391790" y="297430"/>
                  </a:cubicBezTo>
                  <a:cubicBezTo>
                    <a:pt x="301077" y="345935"/>
                    <a:pt x="55935" y="343254"/>
                    <a:pt x="8614" y="243252"/>
                  </a:cubicBezTo>
                  <a:cubicBezTo>
                    <a:pt x="-12895" y="197678"/>
                    <a:pt x="8240" y="136766"/>
                    <a:pt x="45897" y="97302"/>
                  </a:cubicBezTo>
                  <a:cubicBezTo>
                    <a:pt x="98704" y="42064"/>
                    <a:pt x="181872" y="11950"/>
                    <a:pt x="252822" y="1539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 Light"/>
                <a:ea typeface="+mn-ea"/>
                <a:cs typeface="+mn-cs"/>
              </a:endParaRPr>
            </a:p>
          </p:txBody>
        </p:sp>
        <p:sp>
          <p:nvSpPr>
            <p:cNvPr id="47" name="Graphic 12">
              <a:extLst>
                <a:ext uri="{FF2B5EF4-FFF2-40B4-BE49-F238E27FC236}">
                  <a16:creationId xmlns:a16="http://schemas.microsoft.com/office/drawing/2014/main" id="{4641D6CE-B3E9-440C-BAAE-6F6968AAAD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142141" y="3272152"/>
              <a:ext cx="180625" cy="158824"/>
            </a:xfrm>
            <a:custGeom>
              <a:avLst/>
              <a:gdLst>
                <a:gd name="connsiteX0" fmla="*/ 63289 w 3341477"/>
                <a:gd name="connsiteY0" fmla="*/ 1933384 h 2938167"/>
                <a:gd name="connsiteX1" fmla="*/ 263314 w 3341477"/>
                <a:gd name="connsiteY1" fmla="*/ 514159 h 2938167"/>
                <a:gd name="connsiteX2" fmla="*/ 1098276 w 3341477"/>
                <a:gd name="connsiteY2" fmla="*/ 952 h 2938167"/>
                <a:gd name="connsiteX3" fmla="*/ 2654089 w 3341477"/>
                <a:gd name="connsiteY3" fmla="*/ 371284 h 2938167"/>
                <a:gd name="connsiteX4" fmla="*/ 3219398 w 3341477"/>
                <a:gd name="connsiteY4" fmla="*/ 2080926 h 2938167"/>
                <a:gd name="connsiteX5" fmla="*/ 2044489 w 3341477"/>
                <a:gd name="connsiteY5" fmla="*/ 2933509 h 2938167"/>
                <a:gd name="connsiteX6" fmla="*/ 453814 w 3341477"/>
                <a:gd name="connsiteY6" fmla="*/ 2495359 h 2938167"/>
                <a:gd name="connsiteX7" fmla="*/ 63289 w 3341477"/>
                <a:gd name="connsiteY7" fmla="*/ 1933384 h 2938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41477" h="2938167">
                  <a:moveTo>
                    <a:pt x="63289" y="1933384"/>
                  </a:moveTo>
                  <a:cubicBezTo>
                    <a:pt x="56717" y="1895856"/>
                    <a:pt x="-165311" y="914209"/>
                    <a:pt x="263314" y="514159"/>
                  </a:cubicBezTo>
                  <a:cubicBezTo>
                    <a:pt x="691939" y="114109"/>
                    <a:pt x="609262" y="11620"/>
                    <a:pt x="1098276" y="952"/>
                  </a:cubicBezTo>
                  <a:cubicBezTo>
                    <a:pt x="1587289" y="-9716"/>
                    <a:pt x="2320714" y="66484"/>
                    <a:pt x="2654089" y="371284"/>
                  </a:cubicBezTo>
                  <a:cubicBezTo>
                    <a:pt x="2987464" y="676084"/>
                    <a:pt x="3603732" y="1514094"/>
                    <a:pt x="3219398" y="2080926"/>
                  </a:cubicBezTo>
                  <a:cubicBezTo>
                    <a:pt x="2835064" y="2647759"/>
                    <a:pt x="2558839" y="2895409"/>
                    <a:pt x="2044489" y="2933509"/>
                  </a:cubicBezTo>
                  <a:cubicBezTo>
                    <a:pt x="1530139" y="2971609"/>
                    <a:pt x="701464" y="2771584"/>
                    <a:pt x="453814" y="2495359"/>
                  </a:cubicBezTo>
                  <a:cubicBezTo>
                    <a:pt x="206164" y="2219134"/>
                    <a:pt x="101389" y="2152459"/>
                    <a:pt x="63289" y="19333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Graphic 15">
              <a:extLst>
                <a:ext uri="{FF2B5EF4-FFF2-40B4-BE49-F238E27FC236}">
                  <a16:creationId xmlns:a16="http://schemas.microsoft.com/office/drawing/2014/main" id="{8D02F1DC-8FDC-4424-8750-42EE6CB9F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02136" y="3379098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Graphic 15">
              <a:extLst>
                <a:ext uri="{FF2B5EF4-FFF2-40B4-BE49-F238E27FC236}">
                  <a16:creationId xmlns:a16="http://schemas.microsoft.com/office/drawing/2014/main" id="{2BB6A551-D864-43F8-B270-809C68AE3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8005" y="3504095"/>
              <a:ext cx="82388" cy="75292"/>
            </a:xfrm>
            <a:custGeom>
              <a:avLst/>
              <a:gdLst>
                <a:gd name="connsiteX0" fmla="*/ 17664 w 5240764"/>
                <a:gd name="connsiteY0" fmla="*/ 2947947 h 4789394"/>
                <a:gd name="connsiteX1" fmla="*/ 903489 w 5240764"/>
                <a:gd name="connsiteY1" fmla="*/ 195222 h 4789394"/>
                <a:gd name="connsiteX2" fmla="*/ 3560964 w 5240764"/>
                <a:gd name="connsiteY2" fmla="*/ 357147 h 4789394"/>
                <a:gd name="connsiteX3" fmla="*/ 5240602 w 5240764"/>
                <a:gd name="connsiteY3" fmla="*/ 2076409 h 4789394"/>
                <a:gd name="connsiteX4" fmla="*/ 4568328 w 5240764"/>
                <a:gd name="connsiteY4" fmla="*/ 3879397 h 4789394"/>
                <a:gd name="connsiteX5" fmla="*/ 3284739 w 5240764"/>
                <a:gd name="connsiteY5" fmla="*/ 4605297 h 4789394"/>
                <a:gd name="connsiteX6" fmla="*/ 1074939 w 5240764"/>
                <a:gd name="connsiteY6" fmla="*/ 4357647 h 4789394"/>
                <a:gd name="connsiteX7" fmla="*/ 15187 w 5240764"/>
                <a:gd name="connsiteY7" fmla="*/ 2830313 h 4789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40764" h="4789394">
                  <a:moveTo>
                    <a:pt x="17664" y="2947947"/>
                  </a:moveTo>
                  <a:cubicBezTo>
                    <a:pt x="17664" y="2900322"/>
                    <a:pt x="-201411" y="490497"/>
                    <a:pt x="903489" y="195222"/>
                  </a:cubicBezTo>
                  <a:cubicBezTo>
                    <a:pt x="2008389" y="-100053"/>
                    <a:pt x="2598939" y="-71478"/>
                    <a:pt x="3560964" y="357147"/>
                  </a:cubicBezTo>
                  <a:cubicBezTo>
                    <a:pt x="4522989" y="785772"/>
                    <a:pt x="5253271" y="1338222"/>
                    <a:pt x="5240602" y="2076409"/>
                  </a:cubicBezTo>
                  <a:cubicBezTo>
                    <a:pt x="5227934" y="2814597"/>
                    <a:pt x="4842267" y="3677276"/>
                    <a:pt x="4568328" y="3879397"/>
                  </a:cubicBezTo>
                  <a:cubicBezTo>
                    <a:pt x="4294389" y="4081422"/>
                    <a:pt x="4065789" y="4548147"/>
                    <a:pt x="3284739" y="4605297"/>
                  </a:cubicBezTo>
                  <a:cubicBezTo>
                    <a:pt x="2503689" y="4662447"/>
                    <a:pt x="1579764" y="5110122"/>
                    <a:pt x="1074939" y="4357647"/>
                  </a:cubicBezTo>
                  <a:cubicBezTo>
                    <a:pt x="570114" y="3605172"/>
                    <a:pt x="12615" y="3617554"/>
                    <a:pt x="15187" y="2830313"/>
                  </a:cubicBezTo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B57277C8-A482-4AA3-AFA6-7F211CE35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43727" y="3666564"/>
              <a:ext cx="173527" cy="138496"/>
            </a:xfrm>
            <a:custGeom>
              <a:avLst/>
              <a:gdLst>
                <a:gd name="connsiteX0" fmla="*/ 237392 w 789043"/>
                <a:gd name="connsiteY0" fmla="*/ 81 h 629754"/>
                <a:gd name="connsiteX1" fmla="*/ 758692 w 789043"/>
                <a:gd name="connsiteY1" fmla="*/ 233550 h 629754"/>
                <a:gd name="connsiteX2" fmla="*/ 650647 w 789043"/>
                <a:gd name="connsiteY2" fmla="*/ 335111 h 629754"/>
                <a:gd name="connsiteX3" fmla="*/ 315041 w 789043"/>
                <a:gd name="connsiteY3" fmla="*/ 584992 h 629754"/>
                <a:gd name="connsiteX4" fmla="*/ 192159 w 789043"/>
                <a:gd name="connsiteY4" fmla="*/ 625953 h 629754"/>
                <a:gd name="connsiteX5" fmla="*/ 124264 w 789043"/>
                <a:gd name="connsiteY5" fmla="*/ 552260 h 629754"/>
                <a:gd name="connsiteX6" fmla="*/ 1631 w 789043"/>
                <a:gd name="connsiteY6" fmla="*/ 133735 h 629754"/>
                <a:gd name="connsiteX7" fmla="*/ 35422 w 789043"/>
                <a:gd name="connsiteY7" fmla="*/ 14157 h 629754"/>
                <a:gd name="connsiteX8" fmla="*/ 113728 w 789043"/>
                <a:gd name="connsiteY8" fmla="*/ 378 h 629754"/>
                <a:gd name="connsiteX9" fmla="*/ 237392 w 789043"/>
                <a:gd name="connsiteY9" fmla="*/ 81 h 629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89043" h="629754">
                  <a:moveTo>
                    <a:pt x="237392" y="81"/>
                  </a:moveTo>
                  <a:cubicBezTo>
                    <a:pt x="474795" y="-992"/>
                    <a:pt x="907215" y="10463"/>
                    <a:pt x="758692" y="233550"/>
                  </a:cubicBezTo>
                  <a:cubicBezTo>
                    <a:pt x="731135" y="274948"/>
                    <a:pt x="690486" y="305435"/>
                    <a:pt x="650647" y="335111"/>
                  </a:cubicBezTo>
                  <a:cubicBezTo>
                    <a:pt x="538737" y="418405"/>
                    <a:pt x="426889" y="501698"/>
                    <a:pt x="315041" y="584992"/>
                  </a:cubicBezTo>
                  <a:cubicBezTo>
                    <a:pt x="278943" y="611863"/>
                    <a:pt x="234865" y="640167"/>
                    <a:pt x="192159" y="625953"/>
                  </a:cubicBezTo>
                  <a:cubicBezTo>
                    <a:pt x="159614" y="615105"/>
                    <a:pt x="139851" y="582810"/>
                    <a:pt x="124264" y="552260"/>
                  </a:cubicBezTo>
                  <a:cubicBezTo>
                    <a:pt x="57742" y="422021"/>
                    <a:pt x="15908" y="279250"/>
                    <a:pt x="1631" y="133735"/>
                  </a:cubicBezTo>
                  <a:cubicBezTo>
                    <a:pt x="-2671" y="90343"/>
                    <a:pt x="-676" y="38596"/>
                    <a:pt x="35422" y="14157"/>
                  </a:cubicBezTo>
                  <a:cubicBezTo>
                    <a:pt x="57804" y="-931"/>
                    <a:pt x="86795" y="-557"/>
                    <a:pt x="113728" y="378"/>
                  </a:cubicBezTo>
                  <a:cubicBezTo>
                    <a:pt x="138207" y="1243"/>
                    <a:pt x="182606" y="328"/>
                    <a:pt x="237392" y="8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18125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FC4B1-E8E2-A54D-1EF6-F7C251C21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18" y="1466300"/>
            <a:ext cx="4238758" cy="646331"/>
          </a:xfrm>
        </p:spPr>
        <p:txBody>
          <a:bodyPr/>
          <a:lstStyle/>
          <a:p>
            <a:r>
              <a:rPr lang="en-US" dirty="0"/>
              <a:t>Topologies</a:t>
            </a:r>
          </a:p>
        </p:txBody>
      </p:sp>
      <p:pic>
        <p:nvPicPr>
          <p:cNvPr id="5" name="Content Placeholder 4" descr="A computer network diagram with many computers connected to each other&#10;&#10;Description automatically generated">
            <a:extLst>
              <a:ext uri="{FF2B5EF4-FFF2-40B4-BE49-F238E27FC236}">
                <a16:creationId xmlns:a16="http://schemas.microsoft.com/office/drawing/2014/main" id="{738F526B-6D0E-255F-963B-02636AC8733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475" y="2522538"/>
            <a:ext cx="3833000" cy="36544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B24965-D52C-DB50-A235-4F4979FC4896}"/>
              </a:ext>
            </a:extLst>
          </p:cNvPr>
          <p:cNvSpPr txBox="1"/>
          <p:nvPr/>
        </p:nvSpPr>
        <p:spPr>
          <a:xfrm>
            <a:off x="1225652" y="6176962"/>
            <a:ext cx="3244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Labs: star topologies.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2AC098-9470-2EE0-D80E-86495F6EAA38}"/>
              </a:ext>
            </a:extLst>
          </p:cNvPr>
          <p:cNvSpPr txBox="1"/>
          <p:nvPr/>
        </p:nvSpPr>
        <p:spPr>
          <a:xfrm>
            <a:off x="5990554" y="42938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i="1" dirty="0">
                <a:latin typeface="+mj-lt"/>
                <a:ea typeface="+mj-ea"/>
                <a:cs typeface="+mj-cs"/>
              </a:rPr>
              <a:t>Routing and VLAN</a:t>
            </a:r>
          </a:p>
        </p:txBody>
      </p:sp>
      <p:pic>
        <p:nvPicPr>
          <p:cNvPr id="14" name="Content Placeholder 13" descr="A diagram of a router&#10;&#10;Description automatically generated">
            <a:extLst>
              <a:ext uri="{FF2B5EF4-FFF2-40B4-BE49-F238E27FC236}">
                <a16:creationId xmlns:a16="http://schemas.microsoft.com/office/drawing/2014/main" id="{158D706B-6347-E219-FD5D-780DACAE5D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2" y="1548505"/>
            <a:ext cx="4610100" cy="131330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C5B7285-CFCF-2EE7-4DA4-5D5969C349EC}"/>
              </a:ext>
            </a:extLst>
          </p:cNvPr>
          <p:cNvSpPr txBox="1"/>
          <p:nvPr/>
        </p:nvSpPr>
        <p:spPr>
          <a:xfrm>
            <a:off x="5975062" y="2864874"/>
            <a:ext cx="4725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RIP for inter-faculty and center data routing.</a:t>
            </a:r>
          </a:p>
        </p:txBody>
      </p:sp>
      <p:pic>
        <p:nvPicPr>
          <p:cNvPr id="19" name="Picture 18" descr="A diagram of a computer network&#10;&#10;Description automatically generated">
            <a:extLst>
              <a:ext uri="{FF2B5EF4-FFF2-40B4-BE49-F238E27FC236}">
                <a16:creationId xmlns:a16="http://schemas.microsoft.com/office/drawing/2014/main" id="{74FB889E-4B86-8767-A06A-EDED9C2B6E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062" y="3334600"/>
            <a:ext cx="3139440" cy="341757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17DE272-3A2A-58C1-0DC4-9B1123352B00}"/>
              </a:ext>
            </a:extLst>
          </p:cNvPr>
          <p:cNvSpPr txBox="1"/>
          <p:nvPr/>
        </p:nvSpPr>
        <p:spPr>
          <a:xfrm>
            <a:off x="9271819" y="3704959"/>
            <a:ext cx="239907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VLAN configurations to segment network traffic efficiently</a:t>
            </a:r>
          </a:p>
        </p:txBody>
      </p:sp>
    </p:spTree>
    <p:extLst>
      <p:ext uri="{BB962C8B-B14F-4D97-AF65-F5344CB8AC3E}">
        <p14:creationId xmlns:p14="http://schemas.microsoft.com/office/powerpoint/2010/main" val="612319648"/>
      </p:ext>
    </p:extLst>
  </p:cSld>
  <p:clrMapOvr>
    <a:masterClrMapping/>
  </p:clrMapOvr>
</p:sld>
</file>

<file path=ppt/theme/theme1.xml><?xml version="1.0" encoding="utf-8"?>
<a:theme xmlns:a="http://schemas.openxmlformats.org/drawingml/2006/main" name="RocaVTI">
  <a:themeElements>
    <a:clrScheme name="AnalogousFromRegularSeedLeftStep">
      <a:dk1>
        <a:srgbClr val="000000"/>
      </a:dk1>
      <a:lt1>
        <a:srgbClr val="FFFFFF"/>
      </a:lt1>
      <a:dk2>
        <a:srgbClr val="1D311B"/>
      </a:dk2>
      <a:lt2>
        <a:srgbClr val="F3F1F0"/>
      </a:lt2>
      <a:accent1>
        <a:srgbClr val="46ADC4"/>
      </a:accent1>
      <a:accent2>
        <a:srgbClr val="34B395"/>
      </a:accent2>
      <a:accent3>
        <a:srgbClr val="41B76A"/>
      </a:accent3>
      <a:accent4>
        <a:srgbClr val="3EB735"/>
      </a:accent4>
      <a:accent5>
        <a:srgbClr val="75B03E"/>
      </a:accent5>
      <a:accent6>
        <a:srgbClr val="9DA931"/>
      </a:accent6>
      <a:hlink>
        <a:srgbClr val="C05942"/>
      </a:hlink>
      <a:folHlink>
        <a:srgbClr val="7F7F7F"/>
      </a:folHlink>
    </a:clrScheme>
    <a:fontScheme name="Custom 36">
      <a:majorFont>
        <a:latin typeface="Georgia Pro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ocaVTI" id="{D79FE1D1-0489-4A69-8531-D0B8CDC31CBE}" vid="{CEBA7FE6-C04B-474E-964F-B022887AD13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202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Avenir Next LT Pro</vt:lpstr>
      <vt:lpstr>Avenir Next LT Pro Light</vt:lpstr>
      <vt:lpstr>Georgia Pro Semibold</vt:lpstr>
      <vt:lpstr>RocaVTI</vt:lpstr>
      <vt:lpstr>University Campus Network Design </vt:lpstr>
      <vt:lpstr>Introduction</vt:lpstr>
      <vt:lpstr>Faculties</vt:lpstr>
      <vt:lpstr>Labs &amp; Scientific Computation Center</vt:lpstr>
      <vt:lpstr>Connections</vt:lpstr>
      <vt:lpstr>IP Addressing</vt:lpstr>
      <vt:lpstr>Topologies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wael salem</dc:creator>
  <cp:lastModifiedBy>ahmed wael salem</cp:lastModifiedBy>
  <cp:revision>2</cp:revision>
  <dcterms:created xsi:type="dcterms:W3CDTF">2024-12-24T01:36:52Z</dcterms:created>
  <dcterms:modified xsi:type="dcterms:W3CDTF">2024-12-24T10:22:27Z</dcterms:modified>
</cp:coreProperties>
</file>